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AA27"/>
    <a:srgbClr val="486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68621C-4B16-A740-9155-B96444F97B1F}" v="115" dt="2026-04-14T20:34:44.152"/>
    <p1510:client id="{99AE3635-A004-41CE-8DCD-6B0F2EC8613F}" v="107" dt="2026-04-14T19:33:23.527"/>
    <p1510:client id="{F9E3A338-C464-0638-75CD-5FA155CB9521}" v="6" dt="2026-04-14T18:50:08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37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472E-BC5E-3810-1863-9F301973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0E684-48E3-D63F-1319-5EA19B1D1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AC8FB-DF32-D1CA-FCE8-520F9BA4F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128D8-EA77-71FE-7541-522F759810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93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4F4C9-2319-93E6-CCD2-E134DA53E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70C59-023D-6EB3-699E-C98D0B2D0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80075-6507-BC7A-C30C-13A61608B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086D1-80C9-B922-372B-FA7F7C257A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38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0"/>
            <a:ext cx="91440" cy="6858000"/>
          </a:xfrm>
          <a:prstGeom prst="rect">
            <a:avLst/>
          </a:prstGeom>
          <a:solidFill>
            <a:srgbClr val="F76C00"/>
          </a:solidFill>
          <a:ln w="12700">
            <a:solidFill>
              <a:srgbClr val="F76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47672"/>
            <a:ext cx="5029200" cy="2532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 rot="16200000">
            <a:off x="-1807942" y="3067386"/>
            <a:ext cx="3909342" cy="29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7FA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BRANDBOARD · IDENTIDADE VISUAL</a:t>
            </a:r>
            <a:endParaRPr lang="en-US" sz="1100">
              <a:solidFill>
                <a:srgbClr val="7FAA27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185483" y="3114434"/>
            <a:ext cx="3844690" cy="629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486018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Conectar </a:t>
            </a:r>
            <a:r>
              <a:rPr lang="en-US" sz="3600" b="1" err="1">
                <a:solidFill>
                  <a:srgbClr val="486018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saberes</a:t>
            </a:r>
            <a:r>
              <a:rPr lang="en-US" sz="3600" b="1">
                <a:solidFill>
                  <a:srgbClr val="486018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.</a:t>
            </a:r>
          </a:p>
          <a:p>
            <a:r>
              <a:rPr lang="en-US" sz="3600" b="1" err="1">
                <a:solidFill>
                  <a:srgbClr val="F76C00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Energizar</a:t>
            </a:r>
            <a:r>
              <a:rPr lang="en-US" sz="3600" b="1">
                <a:solidFill>
                  <a:srgbClr val="F76C00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 o </a:t>
            </a:r>
            <a:r>
              <a:rPr lang="en-US" sz="3600" b="1" err="1">
                <a:solidFill>
                  <a:srgbClr val="F76C00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futuro</a:t>
            </a:r>
            <a:r>
              <a:rPr lang="en-US" sz="3600" b="1">
                <a:solidFill>
                  <a:srgbClr val="F76C00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.</a:t>
            </a:r>
            <a:endParaRPr lang="en-US" sz="3600"/>
          </a:p>
          <a:p>
            <a:pPr marL="0" indent="0">
              <a:buNone/>
            </a:pPr>
            <a:endParaRPr lang="en-US" sz="3600"/>
          </a:p>
        </p:txBody>
      </p:sp>
      <p:sp>
        <p:nvSpPr>
          <p:cNvPr id="9" name="Text 6"/>
          <p:cNvSpPr/>
          <p:nvPr/>
        </p:nvSpPr>
        <p:spPr>
          <a:xfrm>
            <a:off x="7185483" y="4734559"/>
            <a:ext cx="42153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integração entre UFF e ONS para acelerar a inovação,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talentos e impulsionar a transição energética.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+ ONS</a:t>
            </a:r>
            <a:endParaRPr lang="en-US" sz="900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0FA5D933-6DB1-10B2-2F78-21FEA8A9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734" y="342961"/>
            <a:ext cx="2616506" cy="68319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2260FB2-1571-AA7E-C714-F8D5E6334F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7614" b="-4124"/>
          <a:stretch>
            <a:fillRect/>
          </a:stretch>
        </p:blipFill>
        <p:spPr bwMode="auto">
          <a:xfrm>
            <a:off x="1061155" y="502244"/>
            <a:ext cx="1868297" cy="3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6576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CENTRO ONS ENERGIA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640080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Propósito &amp; Conceito</a:t>
            </a:r>
            <a:endParaRPr lang="en-US" sz="110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4864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73152" cy="539496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7724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777240" y="1600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486018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Acelerar a inovação,</a:t>
            </a:r>
            <a:endParaRPr lang="en-US" sz="3000"/>
          </a:p>
          <a:p>
            <a:pPr marL="0" indent="0">
              <a:buNone/>
            </a:pPr>
            <a:r>
              <a:rPr lang="en-US" sz="3000" b="1">
                <a:solidFill>
                  <a:srgbClr val="486018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formar talentos.</a:t>
            </a:r>
            <a:endParaRPr lang="en-US" sz="300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a integração entre </a:t>
            </a:r>
            <a:r>
              <a:rPr lang="en-US" sz="1400" b="1">
                <a:solidFill>
                  <a:srgbClr val="486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e ONS</a:t>
            </a:r>
            <a:r>
              <a:rPr lang="en-US" sz="14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acelerar a inovação tecnológica, a formação de talentos e o desenvolvimento de soluções que apoiem a </a:t>
            </a:r>
            <a:r>
              <a:rPr lang="en-US" sz="1400" b="1">
                <a:solidFill>
                  <a:srgbClr val="486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 energética</a:t>
            </a:r>
            <a:r>
              <a:rPr lang="en-US" sz="14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 </a:t>
            </a:r>
            <a:r>
              <a:rPr lang="en-US" sz="1400" b="1">
                <a:solidFill>
                  <a:srgbClr val="486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digital</a:t>
            </a:r>
            <a:r>
              <a:rPr lang="en-US" sz="14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país.</a:t>
            </a:r>
            <a:endParaRPr lang="en-US" sz="1400"/>
          </a:p>
        </p:txBody>
      </p:sp>
      <p:sp>
        <p:nvSpPr>
          <p:cNvPr id="11" name="Shape 8"/>
          <p:cNvSpPr/>
          <p:nvPr/>
        </p:nvSpPr>
        <p:spPr>
          <a:xfrm>
            <a:off x="777240" y="5760720"/>
            <a:ext cx="896112" cy="320040"/>
          </a:xfrm>
          <a:prstGeom prst="roundRect">
            <a:avLst>
              <a:gd name="adj" fmla="val 48571"/>
            </a:avLst>
          </a:prstGeom>
          <a:solidFill>
            <a:srgbClr val="E5EBD8"/>
          </a:solidFill>
          <a:ln w="12700">
            <a:solidFill>
              <a:srgbClr val="E5EB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77240" y="5760720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86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1764792" y="5760720"/>
            <a:ext cx="973836" cy="320040"/>
          </a:xfrm>
          <a:prstGeom prst="roundRect">
            <a:avLst>
              <a:gd name="adj" fmla="val 48571"/>
            </a:avLst>
          </a:prstGeom>
          <a:solidFill>
            <a:srgbClr val="E1EBF8"/>
          </a:solidFill>
          <a:ln w="12700">
            <a:solidFill>
              <a:srgbClr val="E1EB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764792" y="5760720"/>
            <a:ext cx="973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Acadêmica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2830068" y="5760720"/>
            <a:ext cx="973836" cy="320040"/>
          </a:xfrm>
          <a:prstGeom prst="roundRect">
            <a:avLst>
              <a:gd name="adj" fmla="val 48571"/>
            </a:avLst>
          </a:prstGeom>
          <a:solidFill>
            <a:srgbClr val="FDE2CC"/>
          </a:solidFill>
          <a:ln w="12700">
            <a:solidFill>
              <a:srgbClr val="FDE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2830068" y="5760720"/>
            <a:ext cx="973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A8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Inovadora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3895344" y="5760720"/>
            <a:ext cx="1207008" cy="320040"/>
          </a:xfrm>
          <a:prstGeom prst="roundRect">
            <a:avLst>
              <a:gd name="adj" fmla="val 48571"/>
            </a:avLst>
          </a:prstGeom>
          <a:solidFill>
            <a:srgbClr val="FFF3C2"/>
          </a:solidFill>
          <a:ln w="12700">
            <a:solidFill>
              <a:srgbClr val="FFF3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3895344" y="5760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Colaborativa</a:t>
            </a:r>
            <a:endParaRPr lang="en-US" sz="1000"/>
          </a:p>
        </p:txBody>
      </p:sp>
      <p:sp>
        <p:nvSpPr>
          <p:cNvPr id="19" name="Shape 16"/>
          <p:cNvSpPr/>
          <p:nvPr/>
        </p:nvSpPr>
        <p:spPr>
          <a:xfrm>
            <a:off x="6263640" y="1005840"/>
            <a:ext cx="54864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6263640" y="1005840"/>
            <a:ext cx="73152" cy="5394960"/>
          </a:xfrm>
          <a:prstGeom prst="rect">
            <a:avLst/>
          </a:prstGeom>
          <a:solidFill>
            <a:srgbClr val="F76C00"/>
          </a:solidFill>
          <a:ln w="12700">
            <a:solidFill>
              <a:srgbClr val="F76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NARRATIVO</a:t>
            </a:r>
            <a:endParaRPr lang="en-US" sz="1100"/>
          </a:p>
        </p:txBody>
      </p:sp>
      <p:sp>
        <p:nvSpPr>
          <p:cNvPr id="22" name="Text 19"/>
          <p:cNvSpPr/>
          <p:nvPr/>
        </p:nvSpPr>
        <p:spPr>
          <a:xfrm>
            <a:off x="6583680" y="1600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76C00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Onde o desafio real</a:t>
            </a:r>
            <a:endParaRPr lang="en-US" sz="3000"/>
          </a:p>
          <a:p>
            <a:pPr marL="0" indent="0">
              <a:buNone/>
            </a:pPr>
            <a:r>
              <a:rPr lang="en-US" sz="3000" b="1">
                <a:solidFill>
                  <a:srgbClr val="F76C00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encontra o talento.</a:t>
            </a:r>
            <a:endParaRPr lang="en-US" sz="3000"/>
          </a:p>
        </p:txBody>
      </p:sp>
      <p:sp>
        <p:nvSpPr>
          <p:cNvPr id="23" name="Text 20"/>
          <p:cNvSpPr/>
          <p:nvPr/>
        </p:nvSpPr>
        <p:spPr>
          <a:xfrm>
            <a:off x="6583680" y="32004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ambiente onde os </a:t>
            </a:r>
            <a:r>
              <a:rPr lang="en-US" sz="1300" b="1">
                <a:solidFill>
                  <a:srgbClr val="486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reais do Sistema Interligado Nacional</a:t>
            </a:r>
            <a:r>
              <a:rPr lang="en-US" sz="13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encontram o talento acadêmico, a pesquisa aplicada e a experimentação tecnológica.</a:t>
            </a:r>
            <a:endParaRPr lang="en-US" sz="1300"/>
          </a:p>
          <a:p>
            <a:pPr marL="0" indent="0">
              <a:buNone/>
            </a:pPr>
            <a:r>
              <a:rPr lang="en-US" sz="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6576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CENTRO ONS ENERGIA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640080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Objetivos do Espaço</a:t>
            </a:r>
            <a:endParaRPr lang="en-US" sz="1100"/>
          </a:p>
        </p:txBody>
      </p:sp>
      <p:sp>
        <p:nvSpPr>
          <p:cNvPr id="6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Um ambiente vivo de</a:t>
            </a:r>
            <a:endParaRPr lang="en-US" sz="320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486018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inovação aplicada.</a:t>
            </a:r>
            <a:endParaRPr lang="en-US" sz="3200"/>
          </a:p>
        </p:txBody>
      </p:sp>
      <p:sp>
        <p:nvSpPr>
          <p:cNvPr id="8" name="Shape 5"/>
          <p:cNvSpPr/>
          <p:nvPr/>
        </p:nvSpPr>
        <p:spPr>
          <a:xfrm>
            <a:off x="335128" y="260604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35128" y="2606040"/>
            <a:ext cx="2194560" cy="9144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9448" y="2880360"/>
            <a:ext cx="640080" cy="640080"/>
          </a:xfrm>
          <a:prstGeom prst="ellipse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09448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01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563728" y="3657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Inovação aplicada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563728" y="43891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vivo, em constante evolução, conectado às demandas do setor.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2666848" y="260604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2666848" y="2606040"/>
            <a:ext cx="2194560" cy="91440"/>
          </a:xfrm>
          <a:prstGeom prst="rect">
            <a:avLst/>
          </a:prstGeom>
          <a:solidFill>
            <a:srgbClr val="4F8AD8"/>
          </a:solidFill>
          <a:ln w="12700">
            <a:solidFill>
              <a:srgbClr val="4F8A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2941168" y="2880360"/>
            <a:ext cx="640080" cy="640080"/>
          </a:xfrm>
          <a:prstGeom prst="ellipse">
            <a:avLst/>
          </a:prstGeom>
          <a:solidFill>
            <a:srgbClr val="4F8AD8"/>
          </a:solidFill>
          <a:ln w="12700">
            <a:solidFill>
              <a:srgbClr val="4F8A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2941168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02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2895448" y="3657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Pesquisa + Experimentação</a:t>
            </a: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2895448" y="43891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pesquisa, extensão, capacitação e experimentação tecnológica em um só lugar.</a:t>
            </a:r>
            <a:endParaRPr lang="en-US" sz="1100"/>
          </a:p>
        </p:txBody>
      </p:sp>
      <p:sp>
        <p:nvSpPr>
          <p:cNvPr id="20" name="Shape 17"/>
          <p:cNvSpPr/>
          <p:nvPr/>
        </p:nvSpPr>
        <p:spPr>
          <a:xfrm>
            <a:off x="4998568" y="260604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4998568" y="2606040"/>
            <a:ext cx="2194560" cy="91440"/>
          </a:xfrm>
          <a:prstGeom prst="rect">
            <a:avLst/>
          </a:prstGeom>
          <a:solidFill>
            <a:srgbClr val="F76C00"/>
          </a:solidFill>
          <a:ln w="12700">
            <a:solidFill>
              <a:srgbClr val="F76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272888" y="2880360"/>
            <a:ext cx="640080" cy="640080"/>
          </a:xfrm>
          <a:prstGeom prst="ellipse">
            <a:avLst/>
          </a:prstGeom>
          <a:solidFill>
            <a:srgbClr val="F76C00"/>
          </a:solidFill>
          <a:ln w="12700">
            <a:solidFill>
              <a:srgbClr val="F76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272888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03</a:t>
            </a:r>
            <a:endParaRPr lang="en-US" sz="1400"/>
          </a:p>
        </p:txBody>
      </p:sp>
      <p:sp>
        <p:nvSpPr>
          <p:cNvPr id="24" name="Text 21"/>
          <p:cNvSpPr/>
          <p:nvPr/>
        </p:nvSpPr>
        <p:spPr>
          <a:xfrm>
            <a:off x="5227168" y="3657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Ponte ONS · UFF</a:t>
            </a:r>
            <a:endParaRPr lang="en-US" sz="1400"/>
          </a:p>
        </p:txBody>
      </p:sp>
      <p:sp>
        <p:nvSpPr>
          <p:cNvPr id="25" name="Text 22"/>
          <p:cNvSpPr/>
          <p:nvPr/>
        </p:nvSpPr>
        <p:spPr>
          <a:xfrm>
            <a:off x="5227168" y="43891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os desafios reais do ONS à produção acadêmica da Universidade Federal Fluminense.</a:t>
            </a:r>
            <a:endParaRPr lang="en-US" sz="1100"/>
          </a:p>
        </p:txBody>
      </p:sp>
      <p:sp>
        <p:nvSpPr>
          <p:cNvPr id="26" name="Shape 23"/>
          <p:cNvSpPr/>
          <p:nvPr/>
        </p:nvSpPr>
        <p:spPr>
          <a:xfrm>
            <a:off x="7330288" y="260604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7330288" y="2606040"/>
            <a:ext cx="2194560" cy="91440"/>
          </a:xfrm>
          <a:prstGeom prst="rect">
            <a:avLst/>
          </a:prstGeom>
          <a:solidFill>
            <a:srgbClr val="FBC90B"/>
          </a:solidFill>
          <a:ln w="12700">
            <a:solidFill>
              <a:srgbClr val="FBC9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7604608" y="2880360"/>
            <a:ext cx="640080" cy="640080"/>
          </a:xfrm>
          <a:prstGeom prst="ellipse">
            <a:avLst/>
          </a:prstGeom>
          <a:solidFill>
            <a:srgbClr val="FBC90B"/>
          </a:solidFill>
          <a:ln w="12700">
            <a:solidFill>
              <a:srgbClr val="FBC9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7604608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04</a:t>
            </a:r>
            <a:endParaRPr lang="en-US" sz="1400"/>
          </a:p>
        </p:txBody>
      </p:sp>
      <p:sp>
        <p:nvSpPr>
          <p:cNvPr id="30" name="Text 27"/>
          <p:cNvSpPr/>
          <p:nvPr/>
        </p:nvSpPr>
        <p:spPr>
          <a:xfrm>
            <a:off x="7558888" y="3657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Talentos &amp; oportunidades</a:t>
            </a:r>
            <a:endParaRPr lang="en-US" sz="1400"/>
          </a:p>
        </p:txBody>
      </p:sp>
      <p:sp>
        <p:nvSpPr>
          <p:cNvPr id="31" name="Text 28"/>
          <p:cNvSpPr/>
          <p:nvPr/>
        </p:nvSpPr>
        <p:spPr>
          <a:xfrm>
            <a:off x="7558888" y="43891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 jovens talentos e cria oportunidades concretas de desenvolvimento profissional.</a:t>
            </a:r>
            <a:endParaRPr lang="en-US" sz="1100"/>
          </a:p>
        </p:txBody>
      </p:sp>
      <p:sp>
        <p:nvSpPr>
          <p:cNvPr id="32" name="Shape 29"/>
          <p:cNvSpPr/>
          <p:nvPr/>
        </p:nvSpPr>
        <p:spPr>
          <a:xfrm>
            <a:off x="9662008" y="260604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9662008" y="2606040"/>
            <a:ext cx="2194560" cy="91440"/>
          </a:xfrm>
          <a:prstGeom prst="rect">
            <a:avLst/>
          </a:prstGeom>
          <a:solidFill>
            <a:srgbClr val="D10429"/>
          </a:solidFill>
          <a:ln w="12700">
            <a:solidFill>
              <a:srgbClr val="D1042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9936328" y="2880360"/>
            <a:ext cx="640080" cy="640080"/>
          </a:xfrm>
          <a:prstGeom prst="ellipse">
            <a:avLst/>
          </a:prstGeom>
          <a:solidFill>
            <a:srgbClr val="D10429"/>
          </a:solidFill>
          <a:ln w="12700">
            <a:solidFill>
              <a:srgbClr val="D1042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9936328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05</a:t>
            </a:r>
            <a:endParaRPr lang="en-US" sz="1400"/>
          </a:p>
        </p:txBody>
      </p:sp>
      <p:sp>
        <p:nvSpPr>
          <p:cNvPr id="36" name="Text 33"/>
          <p:cNvSpPr/>
          <p:nvPr/>
        </p:nvSpPr>
        <p:spPr>
          <a:xfrm>
            <a:off x="9890608" y="3657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A1A1A"/>
                </a:solidFill>
                <a:latin typeface="Aglet Sans"/>
                <a:ea typeface="Aglet Sans"/>
                <a:cs typeface="Aglet Sans" pitchFamily="34" charset="-120"/>
              </a:rPr>
              <a:t>Sistema </a:t>
            </a:r>
            <a:r>
              <a:rPr lang="en-US" sz="1400" b="1" err="1">
                <a:solidFill>
                  <a:srgbClr val="1A1A1A"/>
                </a:solidFill>
                <a:latin typeface="Aglet Sans"/>
                <a:ea typeface="Aglet Sans"/>
                <a:cs typeface="Aglet Sans" pitchFamily="34" charset="-120"/>
              </a:rPr>
              <a:t>mais</a:t>
            </a:r>
            <a:r>
              <a:rPr lang="en-US" sz="1400" b="1">
                <a:solidFill>
                  <a:srgbClr val="1A1A1A"/>
                </a:solidFill>
                <a:latin typeface="Aglet Sans"/>
                <a:ea typeface="Aglet Sans"/>
                <a:cs typeface="Aglet Sans" pitchFamily="34" charset="-120"/>
              </a:rPr>
              <a:t> </a:t>
            </a:r>
            <a:r>
              <a:rPr lang="en-US" sz="1400" b="1" err="1">
                <a:solidFill>
                  <a:srgbClr val="1A1A1A"/>
                </a:solidFill>
                <a:latin typeface="Aglet Sans"/>
                <a:ea typeface="Aglet Sans"/>
                <a:cs typeface="Aglet Sans" pitchFamily="34" charset="-120"/>
              </a:rPr>
              <a:t>resiliente</a:t>
            </a:r>
            <a:endParaRPr lang="en-US" sz="1400" err="1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890608" y="43891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 diretamente para um sistema elétrico mais moderno, sustentável e digital.</a:t>
            </a:r>
            <a:endParaRPr lang="en-US" sz="1100"/>
          </a:p>
        </p:txBody>
      </p:sp>
      <p:sp>
        <p:nvSpPr>
          <p:cNvPr id="38" name="Shape 35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"Conectar saberes. Energizar o futuro."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6576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CENTRO ONS ENERGIA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640080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Marca</a:t>
            </a:r>
            <a:endParaRPr lang="en-US" sz="110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68580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011680"/>
            <a:ext cx="5029200" cy="2532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4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· Inteligência · Energia</a:t>
            </a:r>
            <a:endParaRPr lang="en-US" sz="1200"/>
          </a:p>
        </p:txBody>
      </p:sp>
      <p:sp>
        <p:nvSpPr>
          <p:cNvPr id="9" name="Shape 5"/>
          <p:cNvSpPr/>
          <p:nvPr/>
        </p:nvSpPr>
        <p:spPr>
          <a:xfrm>
            <a:off x="7635240" y="1005840"/>
            <a:ext cx="41148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79095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DA MARCA</a:t>
            </a:r>
            <a:endParaRPr lang="en-US" sz="1100"/>
          </a:p>
        </p:txBody>
      </p:sp>
      <p:sp>
        <p:nvSpPr>
          <p:cNvPr id="11" name="Text 7"/>
          <p:cNvSpPr/>
          <p:nvPr/>
        </p:nvSpPr>
        <p:spPr>
          <a:xfrm>
            <a:off x="790956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486018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 malha do sistema.</a:t>
            </a:r>
            <a:endParaRPr lang="en-US" sz="2200"/>
          </a:p>
        </p:txBody>
      </p:sp>
      <p:sp>
        <p:nvSpPr>
          <p:cNvPr id="12" name="Text 8"/>
          <p:cNvSpPr/>
          <p:nvPr/>
        </p:nvSpPr>
        <p:spPr>
          <a:xfrm>
            <a:off x="7909560" y="21488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intenção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reforçar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ONS para a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sociedade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reforçando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paleta de cores e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15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símbolo representa a malha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interconectada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Sistema Interligado Nacional: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linhas e fluxos de energia que se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continuamente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Um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paralelo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humanas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oferecidas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Centro. </a:t>
            </a:r>
            <a:endParaRPr lang="en-US" sz="1150"/>
          </a:p>
        </p:txBody>
      </p:sp>
      <p:sp>
        <p:nvSpPr>
          <p:cNvPr id="13" name="Shape 9"/>
          <p:cNvSpPr/>
          <p:nvPr/>
        </p:nvSpPr>
        <p:spPr>
          <a:xfrm>
            <a:off x="7909560" y="3840480"/>
            <a:ext cx="228600" cy="228600"/>
          </a:xfrm>
          <a:prstGeom prst="ellipse">
            <a:avLst/>
          </a:prstGeom>
          <a:solidFill>
            <a:srgbClr val="4F8AD8"/>
          </a:solidFill>
          <a:ln w="12700">
            <a:solidFill>
              <a:srgbClr val="4F8A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822960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Azul · Operação</a:t>
            </a:r>
            <a:endParaRPr lang="en-US" sz="1100"/>
          </a:p>
        </p:txBody>
      </p:sp>
      <p:sp>
        <p:nvSpPr>
          <p:cNvPr id="15" name="Text 11"/>
          <p:cNvSpPr/>
          <p:nvPr/>
        </p:nvSpPr>
        <p:spPr>
          <a:xfrm>
            <a:off x="822960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contínuo do sistema.</a:t>
            </a:r>
            <a:endParaRPr lang="en-US" sz="1000"/>
          </a:p>
        </p:txBody>
      </p:sp>
      <p:sp>
        <p:nvSpPr>
          <p:cNvPr id="16" name="Shape 12"/>
          <p:cNvSpPr/>
          <p:nvPr/>
        </p:nvSpPr>
        <p:spPr>
          <a:xfrm>
            <a:off x="7909560" y="4617720"/>
            <a:ext cx="228600" cy="228600"/>
          </a:xfrm>
          <a:prstGeom prst="ellipse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822960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Verde · Sustentabilidade</a:t>
            </a:r>
            <a:endParaRPr lang="en-US" sz="1100"/>
          </a:p>
        </p:txBody>
      </p:sp>
      <p:sp>
        <p:nvSpPr>
          <p:cNvPr id="18" name="Text 14"/>
          <p:cNvSpPr/>
          <p:nvPr/>
        </p:nvSpPr>
        <p:spPr>
          <a:xfrm>
            <a:off x="822960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transição energética.</a:t>
            </a:r>
            <a:endParaRPr lang="en-US" sz="1000"/>
          </a:p>
        </p:txBody>
      </p:sp>
      <p:sp>
        <p:nvSpPr>
          <p:cNvPr id="19" name="Shape 15"/>
          <p:cNvSpPr/>
          <p:nvPr/>
        </p:nvSpPr>
        <p:spPr>
          <a:xfrm>
            <a:off x="7909560" y="5394960"/>
            <a:ext cx="228600" cy="228600"/>
          </a:xfrm>
          <a:prstGeom prst="ellipse">
            <a:avLst/>
          </a:prstGeom>
          <a:solidFill>
            <a:srgbClr val="F76C00"/>
          </a:solidFill>
          <a:ln w="12700">
            <a:solidFill>
              <a:srgbClr val="F76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822960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Laranja · Inovação</a:t>
            </a:r>
            <a:endParaRPr lang="en-US" sz="1100"/>
          </a:p>
        </p:txBody>
      </p:sp>
      <p:sp>
        <p:nvSpPr>
          <p:cNvPr id="21" name="Text 17"/>
          <p:cNvSpPr/>
          <p:nvPr/>
        </p:nvSpPr>
        <p:spPr>
          <a:xfrm>
            <a:off x="822960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energia </a:t>
            </a:r>
            <a:r>
              <a:rPr lang="en-US" sz="100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interliga</a:t>
            </a: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6576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CENTRO ONS ENERGIA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640080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Paleta de cores</a:t>
            </a:r>
            <a:endParaRPr lang="en-US" sz="110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Paleta </a:t>
            </a:r>
            <a:r>
              <a:rPr lang="en-US" sz="2600" b="1" err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oficial</a:t>
            </a:r>
            <a:endParaRPr lang="en-US" sz="260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principais que estruturam toda a comunicação visual do Centro.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426568" y="1965960"/>
            <a:ext cx="3657600" cy="210312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09448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PRIMÁRIA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426568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Verde Pantone 371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426568" y="450799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 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#486018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 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· 96 · 24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· 42 · 100 · 36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>
          <a:xfrm>
            <a:off x="4267048" y="1965960"/>
            <a:ext cx="3657600" cy="2103120"/>
          </a:xfrm>
          <a:prstGeom prst="rect">
            <a:avLst/>
          </a:prstGeom>
          <a:solidFill>
            <a:srgbClr val="4F8AD8"/>
          </a:solidFill>
          <a:ln w="12700">
            <a:solidFill>
              <a:srgbClr val="4F8A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449928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SECUNDÁRIA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>
          <a:xfrm>
            <a:off x="4267048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Azul Pantone 279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4267048" y="450799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 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#4F8AD8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 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· 138 · 216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· 42 · 0 · 0</a:t>
            </a:r>
            <a:endParaRPr lang="en-US" sz="1050"/>
          </a:p>
        </p:txBody>
      </p:sp>
      <p:sp>
        <p:nvSpPr>
          <p:cNvPr id="16" name="Shape 13"/>
          <p:cNvSpPr/>
          <p:nvPr/>
        </p:nvSpPr>
        <p:spPr>
          <a:xfrm>
            <a:off x="8107528" y="1965960"/>
            <a:ext cx="3657600" cy="2103120"/>
          </a:xfrm>
          <a:prstGeom prst="rect">
            <a:avLst/>
          </a:prstGeom>
          <a:solidFill>
            <a:srgbClr val="F76C00"/>
          </a:solidFill>
          <a:ln w="12700">
            <a:solidFill>
              <a:srgbClr val="F76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290408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</a:t>
            </a:r>
            <a:endParaRPr lang="en-US" sz="1000"/>
          </a:p>
        </p:txBody>
      </p:sp>
      <p:sp>
        <p:nvSpPr>
          <p:cNvPr id="18" name="Text 15"/>
          <p:cNvSpPr/>
          <p:nvPr/>
        </p:nvSpPr>
        <p:spPr>
          <a:xfrm>
            <a:off x="8107528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Laranja Pantone 1585</a:t>
            </a: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8107528" y="450799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 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#F76C00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 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· 108 · 0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73 · 100 · 0</a:t>
            </a:r>
            <a:endParaRPr lang="en-US" sz="1050"/>
          </a:p>
        </p:txBody>
      </p:sp>
      <p:sp>
        <p:nvSpPr>
          <p:cNvPr id="20" name="Text 17"/>
          <p:cNvSpPr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DE APOIO</a:t>
            </a:r>
            <a:endParaRPr lang="en-US" sz="1000"/>
          </a:p>
        </p:txBody>
      </p:sp>
      <p:sp>
        <p:nvSpPr>
          <p:cNvPr id="21" name="Shape 18"/>
          <p:cNvSpPr/>
          <p:nvPr/>
        </p:nvSpPr>
        <p:spPr>
          <a:xfrm>
            <a:off x="548640" y="5852160"/>
            <a:ext cx="457200" cy="457200"/>
          </a:xfrm>
          <a:prstGeom prst="rect">
            <a:avLst/>
          </a:prstGeom>
          <a:solidFill>
            <a:srgbClr val="FBC90B"/>
          </a:solidFill>
          <a:ln w="12700">
            <a:solidFill>
              <a:srgbClr val="FBC9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097280" y="5833872"/>
            <a:ext cx="15599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Amarelo · 123</a:t>
            </a:r>
            <a:endParaRPr lang="en-US" sz="1000"/>
          </a:p>
        </p:txBody>
      </p:sp>
      <p:sp>
        <p:nvSpPr>
          <p:cNvPr id="23" name="Text 20"/>
          <p:cNvSpPr/>
          <p:nvPr/>
        </p:nvSpPr>
        <p:spPr>
          <a:xfrm>
            <a:off x="1097280" y="6053328"/>
            <a:ext cx="15599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#FBC90B</a:t>
            </a:r>
            <a:endParaRPr lang="en-US" sz="900"/>
          </a:p>
        </p:txBody>
      </p:sp>
      <p:sp>
        <p:nvSpPr>
          <p:cNvPr id="24" name="Shape 21"/>
          <p:cNvSpPr/>
          <p:nvPr/>
        </p:nvSpPr>
        <p:spPr>
          <a:xfrm>
            <a:off x="2794406" y="5852160"/>
            <a:ext cx="457200" cy="457200"/>
          </a:xfrm>
          <a:prstGeom prst="rect">
            <a:avLst/>
          </a:prstGeom>
          <a:solidFill>
            <a:srgbClr val="D10429"/>
          </a:solidFill>
          <a:ln w="12700">
            <a:solidFill>
              <a:srgbClr val="D1042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3343046" y="5833872"/>
            <a:ext cx="15599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Vermelho · 186</a:t>
            </a:r>
            <a:endParaRPr lang="en-US" sz="1000"/>
          </a:p>
        </p:txBody>
      </p:sp>
      <p:sp>
        <p:nvSpPr>
          <p:cNvPr id="26" name="Text 23"/>
          <p:cNvSpPr/>
          <p:nvPr/>
        </p:nvSpPr>
        <p:spPr>
          <a:xfrm>
            <a:off x="3343046" y="6053328"/>
            <a:ext cx="15599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#D10429</a:t>
            </a:r>
            <a:endParaRPr lang="en-US" sz="900"/>
          </a:p>
        </p:txBody>
      </p:sp>
      <p:sp>
        <p:nvSpPr>
          <p:cNvPr id="27" name="Shape 24"/>
          <p:cNvSpPr/>
          <p:nvPr/>
        </p:nvSpPr>
        <p:spPr>
          <a:xfrm>
            <a:off x="5040173" y="5852160"/>
            <a:ext cx="457200" cy="457200"/>
          </a:xfrm>
          <a:prstGeom prst="rect">
            <a:avLst/>
          </a:prstGeom>
          <a:solidFill>
            <a:srgbClr val="636266"/>
          </a:solidFill>
          <a:ln w="12700">
            <a:solidFill>
              <a:srgbClr val="6362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588813" y="5833872"/>
            <a:ext cx="15599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Cool Gray 11</a:t>
            </a:r>
            <a:endParaRPr lang="en-US" sz="1000"/>
          </a:p>
        </p:txBody>
      </p:sp>
      <p:sp>
        <p:nvSpPr>
          <p:cNvPr id="29" name="Text 26"/>
          <p:cNvSpPr/>
          <p:nvPr/>
        </p:nvSpPr>
        <p:spPr>
          <a:xfrm>
            <a:off x="5588813" y="6053328"/>
            <a:ext cx="15599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#636266</a:t>
            </a:r>
            <a:endParaRPr lang="en-US" sz="900"/>
          </a:p>
        </p:txBody>
      </p:sp>
      <p:sp>
        <p:nvSpPr>
          <p:cNvPr id="30" name="Shape 27"/>
          <p:cNvSpPr/>
          <p:nvPr/>
        </p:nvSpPr>
        <p:spPr>
          <a:xfrm>
            <a:off x="7285939" y="5852160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7834579" y="5833872"/>
            <a:ext cx="15599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Preto</a:t>
            </a:r>
            <a:endParaRPr lang="en-US" sz="1000"/>
          </a:p>
        </p:txBody>
      </p:sp>
      <p:sp>
        <p:nvSpPr>
          <p:cNvPr id="32" name="Text 29"/>
          <p:cNvSpPr/>
          <p:nvPr/>
        </p:nvSpPr>
        <p:spPr>
          <a:xfrm>
            <a:off x="7834579" y="6053328"/>
            <a:ext cx="15599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#111111</a:t>
            </a:r>
            <a:endParaRPr lang="en-US" sz="900"/>
          </a:p>
        </p:txBody>
      </p:sp>
      <p:sp>
        <p:nvSpPr>
          <p:cNvPr id="33" name="Shape 30"/>
          <p:cNvSpPr/>
          <p:nvPr/>
        </p:nvSpPr>
        <p:spPr>
          <a:xfrm>
            <a:off x="9531706" y="5852160"/>
            <a:ext cx="457200" cy="457200"/>
          </a:xfrm>
          <a:prstGeom prst="rect">
            <a:avLst/>
          </a:prstGeom>
          <a:solidFill>
            <a:srgbClr val="FAFAF7"/>
          </a:solidFill>
          <a:ln w="9525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10080346" y="5833872"/>
            <a:ext cx="15599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Off-white</a:t>
            </a:r>
            <a:endParaRPr lang="en-US" sz="1000"/>
          </a:p>
        </p:txBody>
      </p:sp>
      <p:sp>
        <p:nvSpPr>
          <p:cNvPr id="35" name="Text 32"/>
          <p:cNvSpPr/>
          <p:nvPr/>
        </p:nvSpPr>
        <p:spPr>
          <a:xfrm>
            <a:off x="10080346" y="6053328"/>
            <a:ext cx="15599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#FAFAF7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6576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CENTRO ONS ENERGIA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640080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Tipografia &amp; Uso da marca</a:t>
            </a:r>
            <a:endParaRPr lang="en-US" sz="110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4864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7724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>
                <a:solidFill>
                  <a:srgbClr val="486018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Aa</a:t>
            </a:r>
            <a:endParaRPr lang="en-US" sz="10000"/>
          </a:p>
        </p:txBody>
      </p:sp>
      <p:sp>
        <p:nvSpPr>
          <p:cNvPr id="9" name="Text 6"/>
          <p:cNvSpPr/>
          <p:nvPr/>
        </p:nvSpPr>
        <p:spPr>
          <a:xfrm>
            <a:off x="7772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Aglet Sans · Bold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7772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 principal — títulos, marca e hierarquia visual.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· Regular · Medium · Semibold · Bold</a:t>
            </a:r>
            <a:endParaRPr lang="en-US" sz="1000"/>
          </a:p>
        </p:txBody>
      </p:sp>
      <p:sp>
        <p:nvSpPr>
          <p:cNvPr id="12" name="Shape 9"/>
          <p:cNvSpPr/>
          <p:nvPr/>
        </p:nvSpPr>
        <p:spPr>
          <a:xfrm>
            <a:off x="777240" y="4114800"/>
            <a:ext cx="4846320" cy="0"/>
          </a:xfrm>
          <a:prstGeom prst="line">
            <a:avLst/>
          </a:prstGeom>
          <a:noFill/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77240" y="4297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>
                <a:solidFill>
                  <a:srgbClr val="636266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Aa</a:t>
            </a:r>
            <a:endParaRPr lang="en-US" sz="8000"/>
          </a:p>
        </p:txBody>
      </p:sp>
      <p:sp>
        <p:nvSpPr>
          <p:cNvPr id="14" name="Text 11"/>
          <p:cNvSpPr/>
          <p:nvPr/>
        </p:nvSpPr>
        <p:spPr>
          <a:xfrm>
            <a:off x="77724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Aglet Sans · Regular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77724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corrido — corpo de texto, legendas e conteúdo extenso.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6263640" y="1005840"/>
            <a:ext cx="54864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5836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DO LOGO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>
          <a:xfrm>
            <a:off x="6583680" y="1691640"/>
            <a:ext cx="23774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057400"/>
            <a:ext cx="1828800" cy="9144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098280" y="1691640"/>
            <a:ext cx="2377440" cy="164592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920240"/>
            <a:ext cx="822960" cy="11887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583680" y="3474720"/>
            <a:ext cx="237744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40480"/>
            <a:ext cx="1828800" cy="9144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098280" y="3474720"/>
            <a:ext cx="2377440" cy="1645920"/>
          </a:xfrm>
          <a:prstGeom prst="rect">
            <a:avLst/>
          </a:prstGeom>
          <a:solidFill>
            <a:srgbClr val="FAFAF7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3840480"/>
            <a:ext cx="1828800" cy="914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83680" y="5212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Versões: assinatura horizontal colorida (preferencial), símbolo isolado, marca sobre fundos escuros e versão monocromática verde.</a:t>
            </a:r>
            <a:endParaRPr lang="en-US" sz="1050"/>
          </a:p>
        </p:txBody>
      </p:sp>
      <p:sp>
        <p:nvSpPr>
          <p:cNvPr id="27" name="Text 20"/>
          <p:cNvSpPr/>
          <p:nvPr/>
        </p:nvSpPr>
        <p:spPr>
          <a:xfrm>
            <a:off x="658368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área de respiro mínima equivalente à largura de um nó da malha.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6576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CENTRO ONS ENERGIA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640080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Aplicações</a:t>
            </a:r>
            <a:endParaRPr lang="en-US" sz="110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Aplicações da marca.</a:t>
            </a:r>
            <a:endParaRPr lang="en-US" sz="260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utilização em peças institucionais, corporativas e de divulgação.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3611880" cy="384048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822960" cy="1005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43434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Relatório de</a:t>
            </a:r>
            <a:endParaRPr lang="en-US" sz="2200"/>
          </a:p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Atividades 2026</a:t>
            </a:r>
            <a:endParaRPr lang="en-US" sz="2200"/>
          </a:p>
        </p:txBody>
      </p:sp>
      <p:sp>
        <p:nvSpPr>
          <p:cNvPr id="11" name="Text 7"/>
          <p:cNvSpPr/>
          <p:nvPr/>
        </p:nvSpPr>
        <p:spPr>
          <a:xfrm>
            <a:off x="822960" y="5394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ONSENERGIA · UFF</a:t>
            </a:r>
            <a:endParaRPr lang="en-US" sz="900"/>
          </a:p>
        </p:txBody>
      </p:sp>
      <p:sp>
        <p:nvSpPr>
          <p:cNvPr id="12" name="Text 8"/>
          <p:cNvSpPr/>
          <p:nvPr/>
        </p:nvSpPr>
        <p:spPr>
          <a:xfrm>
            <a:off x="548640" y="6035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institucional</a:t>
            </a:r>
            <a:endParaRPr lang="en-US" sz="1100"/>
          </a:p>
        </p:txBody>
      </p:sp>
      <p:sp>
        <p:nvSpPr>
          <p:cNvPr id="13" name="Shape 9"/>
          <p:cNvSpPr/>
          <p:nvPr/>
        </p:nvSpPr>
        <p:spPr>
          <a:xfrm>
            <a:off x="4343400" y="2057400"/>
            <a:ext cx="3611880" cy="3840480"/>
          </a:xfrm>
          <a:prstGeom prst="rect">
            <a:avLst/>
          </a:prstGeom>
          <a:solidFill>
            <a:srgbClr val="FAFAF7"/>
          </a:solidFill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331720"/>
            <a:ext cx="2011680" cy="10058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17720" y="3520440"/>
            <a:ext cx="3063240" cy="0"/>
          </a:xfrm>
          <a:prstGeom prst="line">
            <a:avLst/>
          </a:prstGeom>
          <a:noFill/>
          <a:ln w="6350">
            <a:solidFill>
              <a:srgbClr val="E2E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4617720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Maria Vasconcellos</a:t>
            </a:r>
            <a:endParaRPr lang="en-US" sz="1600"/>
          </a:p>
        </p:txBody>
      </p:sp>
      <p:sp>
        <p:nvSpPr>
          <p:cNvPr id="17" name="Text 12"/>
          <p:cNvSpPr/>
          <p:nvPr/>
        </p:nvSpPr>
        <p:spPr>
          <a:xfrm>
            <a:off x="4617720" y="4069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Coordenadora de Pesquisa</a:t>
            </a:r>
            <a:endParaRPr lang="en-US" sz="1100"/>
          </a:p>
        </p:txBody>
      </p:sp>
      <p:sp>
        <p:nvSpPr>
          <p:cNvPr id="18" name="Text 13"/>
          <p:cNvSpPr/>
          <p:nvPr/>
        </p:nvSpPr>
        <p:spPr>
          <a:xfrm>
            <a:off x="4617720" y="4846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mariavas@ons.org.br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 21 0000-0000</a:t>
            </a:r>
            <a:endParaRPr lang="en-US" sz="1100"/>
          </a:p>
        </p:txBody>
      </p:sp>
      <p:sp>
        <p:nvSpPr>
          <p:cNvPr id="19" name="Shape 14"/>
          <p:cNvSpPr/>
          <p:nvPr/>
        </p:nvSpPr>
        <p:spPr>
          <a:xfrm>
            <a:off x="4617720" y="5669280"/>
            <a:ext cx="1021080" cy="73152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5638800" y="5669280"/>
            <a:ext cx="1021080" cy="73152"/>
          </a:xfrm>
          <a:prstGeom prst="rect">
            <a:avLst/>
          </a:prstGeom>
          <a:solidFill>
            <a:srgbClr val="4F8AD8"/>
          </a:solidFill>
          <a:ln w="12700">
            <a:solidFill>
              <a:srgbClr val="4F8A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6659880" y="5669280"/>
            <a:ext cx="1021080" cy="73152"/>
          </a:xfrm>
          <a:prstGeom prst="rect">
            <a:avLst/>
          </a:prstGeom>
          <a:solidFill>
            <a:srgbClr val="F76C00"/>
          </a:solidFill>
          <a:ln w="12700">
            <a:solidFill>
              <a:srgbClr val="F76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/>
          <p:nvPr/>
        </p:nvSpPr>
        <p:spPr>
          <a:xfrm>
            <a:off x="4343400" y="6035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00"/>
          </a:p>
        </p:txBody>
      </p:sp>
      <p:sp>
        <p:nvSpPr>
          <p:cNvPr id="23" name="Shape 18"/>
          <p:cNvSpPr/>
          <p:nvPr/>
        </p:nvSpPr>
        <p:spPr>
          <a:xfrm>
            <a:off x="8138160" y="2057400"/>
            <a:ext cx="3611880" cy="3840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10104120" y="2240280"/>
            <a:ext cx="1828800" cy="21945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12480" y="2331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INAUGURAÇÃO 2026</a:t>
            </a:r>
            <a:endParaRPr lang="en-US" sz="1000"/>
          </a:p>
        </p:txBody>
      </p:sp>
      <p:sp>
        <p:nvSpPr>
          <p:cNvPr id="26" name="Text 20"/>
          <p:cNvSpPr/>
          <p:nvPr/>
        </p:nvSpPr>
        <p:spPr>
          <a:xfrm>
            <a:off x="8412480" y="3337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Conectar</a:t>
            </a:r>
            <a:endParaRPr lang="en-US" sz="2600"/>
          </a:p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saberes.</a:t>
            </a:r>
            <a:endParaRPr lang="en-US" sz="2600"/>
          </a:p>
        </p:txBody>
      </p:sp>
      <p:sp>
        <p:nvSpPr>
          <p:cNvPr id="27" name="Text 21"/>
          <p:cNvSpPr/>
          <p:nvPr/>
        </p:nvSpPr>
        <p:spPr>
          <a:xfrm>
            <a:off x="8412480" y="4389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76C00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Energizar</a:t>
            </a:r>
            <a:endParaRPr lang="en-US" sz="2600"/>
          </a:p>
          <a:p>
            <a:pPr marL="0" indent="0">
              <a:buNone/>
            </a:pPr>
            <a:r>
              <a:rPr lang="en-US" sz="2600" b="1">
                <a:solidFill>
                  <a:srgbClr val="F76C00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o futuro.</a:t>
            </a:r>
            <a:endParaRPr lang="en-US" sz="2600"/>
          </a:p>
        </p:txBody>
      </p:sp>
      <p:sp>
        <p:nvSpPr>
          <p:cNvPr id="28" name="Shape 22"/>
          <p:cNvSpPr/>
          <p:nvPr/>
        </p:nvSpPr>
        <p:spPr>
          <a:xfrm>
            <a:off x="8412480" y="5440680"/>
            <a:ext cx="457200" cy="36576"/>
          </a:xfrm>
          <a:prstGeom prst="rect">
            <a:avLst/>
          </a:prstGeom>
          <a:solidFill>
            <a:srgbClr val="F76C00"/>
          </a:solidFill>
          <a:ln w="12700">
            <a:solidFill>
              <a:srgbClr val="F76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3"/>
          <p:cNvSpPr/>
          <p:nvPr/>
        </p:nvSpPr>
        <p:spPr>
          <a:xfrm>
            <a:off x="8412480" y="5532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Niterói · Setembro · 2026</a:t>
            </a:r>
            <a:endParaRPr lang="en-US" sz="1000"/>
          </a:p>
        </p:txBody>
      </p:sp>
      <p:sp>
        <p:nvSpPr>
          <p:cNvPr id="30" name="Text 24"/>
          <p:cNvSpPr/>
          <p:nvPr/>
        </p:nvSpPr>
        <p:spPr>
          <a:xfrm>
            <a:off x="8138160" y="6035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</a:t>
            </a:r>
            <a:r>
              <a:rPr lang="en-US" sz="110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F2042-755B-79C2-C0C1-AA895357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B50D10-FA8C-C1A3-275A-710701C4768A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1DB674E-6B17-4DBE-4BF8-DA618726A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65760" cy="43891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2F63457-5242-E00E-B0DA-80E0B786F0EE}"/>
              </a:ext>
            </a:extLst>
          </p:cNvPr>
          <p:cNvSpPr/>
          <p:nvPr/>
        </p:nvSpPr>
        <p:spPr>
          <a:xfrm>
            <a:off x="86868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CENTRO ONS ENERGIA</a:t>
            </a:r>
            <a:endParaRPr lang="en-US" sz="11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441E0FC-FA4E-A778-29F5-9890DF243580}"/>
              </a:ext>
            </a:extLst>
          </p:cNvPr>
          <p:cNvSpPr/>
          <p:nvPr/>
        </p:nvSpPr>
        <p:spPr>
          <a:xfrm>
            <a:off x="640080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</a:t>
            </a:r>
            <a:r>
              <a:rPr lang="en-US" sz="1100" kern="0" spc="2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Ativações</a:t>
            </a:r>
            <a:endParaRPr lang="en-US" sz="11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195FFB-7DCA-4B57-0D19-3CBC1B63057D}"/>
              </a:ext>
            </a:extLst>
          </p:cNvPr>
          <p:cNvSpPr/>
          <p:nvPr/>
        </p:nvSpPr>
        <p:spPr>
          <a:xfrm>
            <a:off x="3185982" y="1219973"/>
            <a:ext cx="8605983" cy="487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/>
            <a:endParaRPr lang="pt-BR" sz="1400" b="1" i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sz="1400" b="1" i="1">
                <a:latin typeface="Calibri" panose="020F0502020204030204" pitchFamily="34" charset="0"/>
                <a:cs typeface="Calibri" panose="020F0502020204030204" pitchFamily="34" charset="0"/>
              </a:rPr>
              <a:t>Teaser institucional </a:t>
            </a:r>
            <a:r>
              <a:rPr lang="pt-BR" sz="140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pt-BR" sz="1400" b="1">
                <a:latin typeface="Calibri"/>
                <a:ea typeface="Calibri"/>
                <a:cs typeface="Calibri"/>
              </a:rPr>
              <a:t> </a:t>
            </a:r>
            <a:r>
              <a:rPr lang="pt-BR" sz="1400">
                <a:latin typeface="Calibri"/>
                <a:ea typeface="Calibri"/>
                <a:cs typeface="Calibri"/>
              </a:rPr>
              <a:t>Vídeo curto nas redes da UFF e do ONS, com professores, pesquisadores e especialistas do ONS: </a:t>
            </a:r>
            <a:endParaRPr lang="pt-BR" sz="2000">
              <a:latin typeface="Calibri"/>
              <a:ea typeface="Calibri"/>
              <a:cs typeface="Calibri"/>
            </a:endParaRPr>
          </a:p>
          <a:p>
            <a:pPr fontAlgn="base"/>
            <a:r>
              <a:rPr lang="pt-BR" sz="1400">
                <a:latin typeface="Calibri" panose="020F0502020204030204" pitchFamily="34" charset="0"/>
                <a:cs typeface="Calibri" panose="020F0502020204030204" pitchFamily="34" charset="0"/>
              </a:rPr>
              <a:t>“O que acontece quando conhecimento e operação se encontram?” </a:t>
            </a:r>
          </a:p>
          <a:p>
            <a:pPr fontAlgn="base"/>
            <a:r>
              <a:rPr lang="pt-BR" sz="1400">
                <a:latin typeface="Calibri" panose="020F0502020204030204" pitchFamily="34" charset="0"/>
                <a:cs typeface="Calibri" panose="020F0502020204030204" pitchFamily="34" charset="0"/>
              </a:rPr>
              <a:t>“Vem aí um novo espaço para pensar o futuro da energia” </a:t>
            </a:r>
          </a:p>
          <a:p>
            <a:pPr fontAlgn="base"/>
            <a:endParaRPr lang="pt-BR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sz="1400" b="1" i="1">
                <a:latin typeface="Calibri" panose="020F0502020204030204" pitchFamily="34" charset="0"/>
                <a:cs typeface="Calibri" panose="020F0502020204030204" pitchFamily="34" charset="0"/>
              </a:rPr>
              <a:t>Mobilização acadêmica e institucional </a:t>
            </a:r>
            <a:r>
              <a:rPr lang="pt-BR" sz="140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fontAlgn="base"/>
            <a:r>
              <a:rPr lang="pt-BR" sz="1400">
                <a:latin typeface="Calibri" panose="020F0502020204030204" pitchFamily="34" charset="0"/>
                <a:cs typeface="Calibri" panose="020F0502020204030204" pitchFamily="34" charset="0"/>
              </a:rPr>
              <a:t>- Rodas de conversa internas na UFF ou ONS (com professores, alunos de graduação e pós) </a:t>
            </a:r>
          </a:p>
          <a:p>
            <a:pPr fontAlgn="base"/>
            <a:r>
              <a:rPr lang="pt-BR" sz="1400">
                <a:latin typeface="Calibri" panose="020F0502020204030204" pitchFamily="34" charset="0"/>
                <a:cs typeface="Calibri" panose="020F0502020204030204" pitchFamily="34" charset="0"/>
              </a:rPr>
              <a:t>- Apresentação dos desafios do setor elétrico trazidos pelo ONS </a:t>
            </a:r>
          </a:p>
          <a:p>
            <a:pPr fontAlgn="base"/>
            <a:r>
              <a:rPr lang="pt-BR" sz="1400">
                <a:latin typeface="Calibri"/>
                <a:ea typeface="Calibri"/>
                <a:cs typeface="Calibri"/>
              </a:rPr>
              <a:t>- Convite de pertencimento: </a:t>
            </a:r>
            <a:r>
              <a:rPr lang="pt-BR" sz="1400" i="1">
                <a:latin typeface="Calibri"/>
                <a:ea typeface="Calibri"/>
                <a:cs typeface="Calibri"/>
              </a:rPr>
              <a:t>“Esse espaço também é seu.”</a:t>
            </a:r>
            <a:endParaRPr lang="pt-BR" sz="1400">
              <a:latin typeface="Calibri"/>
              <a:ea typeface="Calibri"/>
              <a:cs typeface="Calibri"/>
            </a:endParaRPr>
          </a:p>
          <a:p>
            <a:pPr fontAlgn="base"/>
            <a:endParaRPr lang="pt-BR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sz="1400" b="1">
                <a:latin typeface="Calibri"/>
                <a:ea typeface="Calibri"/>
                <a:cs typeface="Calibri"/>
              </a:rPr>
              <a:t>Formato: </a:t>
            </a:r>
            <a:r>
              <a:rPr lang="pt-BR" sz="1400">
                <a:latin typeface="Calibri"/>
                <a:ea typeface="Calibri"/>
                <a:cs typeface="Calibri"/>
              </a:rPr>
              <a:t>Inauguração + Seminário de Inovação e Transformação Energética no Centro</a:t>
            </a:r>
          </a:p>
          <a:p>
            <a:pPr fontAlgn="base"/>
            <a:endParaRPr lang="pt-BR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sz="1400" b="1">
                <a:latin typeface="Calibri"/>
                <a:ea typeface="Calibri"/>
                <a:cs typeface="Calibri"/>
              </a:rPr>
              <a:t>Público: </a:t>
            </a:r>
            <a:r>
              <a:rPr lang="pt-BR" sz="1400">
                <a:latin typeface="Calibri"/>
                <a:ea typeface="Calibri"/>
                <a:cs typeface="Calibri"/>
              </a:rPr>
              <a:t>Liderança ONS e UFF, comunidade acadêmica, parceiros institucionais e representantes do setor elétrico </a:t>
            </a:r>
          </a:p>
          <a:p>
            <a:pPr fontAlgn="base"/>
            <a:endParaRPr lang="pt-BR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sz="1400" b="1">
                <a:latin typeface="Calibri"/>
                <a:ea typeface="Calibri"/>
                <a:cs typeface="Calibri"/>
              </a:rPr>
              <a:t>Ato simbólico: </a:t>
            </a:r>
            <a:r>
              <a:rPr lang="pt-BR" sz="1400">
                <a:latin typeface="Calibri"/>
                <a:ea typeface="Calibri"/>
                <a:cs typeface="Calibri"/>
              </a:rPr>
              <a:t>descerramento da placa </a:t>
            </a:r>
          </a:p>
          <a:p>
            <a:endParaRPr lang="pt-BR" sz="1400">
              <a:latin typeface="Calibri"/>
              <a:ea typeface="Calibri"/>
              <a:cs typeface="Calibri"/>
            </a:endParaRPr>
          </a:p>
          <a:p>
            <a:pPr fontAlgn="base"/>
            <a:r>
              <a:rPr lang="pt-BR" sz="1400" b="1" i="1">
                <a:latin typeface="Calibri"/>
                <a:ea typeface="Calibri"/>
                <a:cs typeface="Calibri"/>
              </a:rPr>
              <a:t>Painéis temáticos</a:t>
            </a:r>
            <a:r>
              <a:rPr lang="pt-BR" sz="1400" b="1">
                <a:latin typeface="Calibri"/>
                <a:ea typeface="Calibri"/>
                <a:cs typeface="Calibri"/>
              </a:rPr>
              <a:t> </a:t>
            </a:r>
            <a:r>
              <a:rPr lang="pt-BR" sz="1400">
                <a:latin typeface="Calibri"/>
                <a:ea typeface="Calibri"/>
                <a:cs typeface="Calibri"/>
              </a:rPr>
              <a:t>(curtos e objetivos) </a:t>
            </a:r>
          </a:p>
          <a:p>
            <a:pPr marL="171450" indent="-171450" fontAlgn="base">
              <a:buFont typeface="Arial"/>
              <a:buChar char="•"/>
            </a:pPr>
            <a:r>
              <a:rPr lang="pt-BR" sz="1400">
                <a:latin typeface="Calibri" panose="020F0502020204030204" pitchFamily="34" charset="0"/>
                <a:cs typeface="Calibri" panose="020F0502020204030204" pitchFamily="34" charset="0"/>
              </a:rPr>
              <a:t>Desafios do Sistema Elétrico Brasileiro </a:t>
            </a:r>
            <a:endParaRPr lang="pt-BR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fontAlgn="base">
              <a:buFont typeface="Arial"/>
              <a:buChar char="•"/>
            </a:pPr>
            <a:r>
              <a:rPr lang="pt-BR" sz="1400">
                <a:latin typeface="Calibri" panose="020F0502020204030204" pitchFamily="34" charset="0"/>
                <a:cs typeface="Calibri" panose="020F0502020204030204" pitchFamily="34" charset="0"/>
              </a:rPr>
              <a:t>Transformação digital e dados no setor elétrico </a:t>
            </a:r>
            <a:endParaRPr lang="pt-BR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fontAlgn="base">
              <a:buFont typeface="Arial"/>
              <a:buChar char="•"/>
            </a:pPr>
            <a:r>
              <a:rPr lang="pt-BR" sz="1400">
                <a:latin typeface="Calibri" panose="020F0502020204030204" pitchFamily="34" charset="0"/>
                <a:cs typeface="Calibri" panose="020F0502020204030204" pitchFamily="34" charset="0"/>
              </a:rPr>
              <a:t>Formação de talentos para a transição energética </a:t>
            </a:r>
            <a:endParaRPr lang="pt-BR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fontAlgn="base">
              <a:buFont typeface="Arial"/>
              <a:buChar char="•"/>
            </a:pPr>
            <a:r>
              <a:rPr lang="pt-BR" sz="1400">
                <a:latin typeface="Calibri" panose="020F0502020204030204" pitchFamily="34" charset="0"/>
                <a:cs typeface="Calibri" panose="020F0502020204030204" pitchFamily="34" charset="0"/>
              </a:rPr>
              <a:t>Universidade e Operador: inovação que gera impacto </a:t>
            </a:r>
            <a:endParaRPr lang="pt-BR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pt-BR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/>
              <a:buChar char="•"/>
            </a:pPr>
            <a:r>
              <a:rPr lang="pt-BR" sz="1400">
                <a:latin typeface="Calibri"/>
                <a:ea typeface="Calibri"/>
                <a:cs typeface="Calibri"/>
              </a:rPr>
              <a:t> Vídeo institucional do Centro </a:t>
            </a:r>
          </a:p>
          <a:p>
            <a:pPr marL="285750" indent="-285750" fontAlgn="base">
              <a:buFont typeface="Arial"/>
              <a:buChar char="•"/>
            </a:pPr>
            <a:r>
              <a:rPr lang="pt-BR" sz="1400">
                <a:latin typeface="Calibri"/>
                <a:ea typeface="Calibri"/>
                <a:cs typeface="Calibri"/>
              </a:rPr>
              <a:t> Vídeos depoimentos com alunos, pesquisadores e especialistas do ONS</a:t>
            </a:r>
            <a:endParaRPr lang="pt-BR" sz="14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285750" indent="-285750" fontAlgn="base">
              <a:buFont typeface="Arial"/>
              <a:buChar char="•"/>
            </a:pPr>
            <a:r>
              <a:rPr lang="pt-BR" sz="1400">
                <a:latin typeface="Calibri"/>
                <a:ea typeface="Calibri"/>
                <a:cs typeface="Calibri"/>
              </a:rPr>
              <a:t> Folder digital (</a:t>
            </a:r>
            <a:r>
              <a:rPr lang="pt-BR" sz="1400" err="1">
                <a:latin typeface="Calibri"/>
                <a:ea typeface="Calibri"/>
                <a:cs typeface="Calibri"/>
              </a:rPr>
              <a:t>pdf</a:t>
            </a:r>
            <a:r>
              <a:rPr lang="pt-BR" sz="1400">
                <a:latin typeface="Calibri"/>
                <a:ea typeface="Calibri"/>
                <a:cs typeface="Calibri"/>
              </a:rPr>
              <a:t>) </a:t>
            </a:r>
          </a:p>
          <a:p>
            <a:pPr marL="285750" indent="-285750" fontAlgn="base">
              <a:buFont typeface="Arial"/>
              <a:buChar char="•"/>
            </a:pPr>
            <a:r>
              <a:rPr lang="pt-BR" sz="1400">
                <a:latin typeface="Calibri"/>
                <a:ea typeface="Calibri"/>
                <a:cs typeface="Calibri"/>
              </a:rPr>
              <a:t> Página no site do ONS e da UFF </a:t>
            </a:r>
          </a:p>
          <a:p>
            <a:pPr marL="285750" indent="-285750" fontAlgn="base">
              <a:buFont typeface="Arial"/>
              <a:buChar char="•"/>
            </a:pPr>
            <a:r>
              <a:rPr lang="pt-BR" sz="1400">
                <a:latin typeface="Calibri"/>
                <a:ea typeface="Calibri"/>
                <a:cs typeface="Calibri"/>
              </a:rPr>
              <a:t> Publicações em redes sociais 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0620F27-1B19-77D1-6ED0-870897E0E3EC}"/>
              </a:ext>
            </a:extLst>
          </p:cNvPr>
          <p:cNvSpPr txBox="1"/>
          <p:nvPr/>
        </p:nvSpPr>
        <p:spPr>
          <a:xfrm>
            <a:off x="247792" y="1649778"/>
            <a:ext cx="6107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b="1">
                <a:solidFill>
                  <a:srgbClr val="486017"/>
                </a:solidFill>
                <a:latin typeface="Calibri" panose="020F0502020204030204" pitchFamily="34" charset="0"/>
                <a:ea typeface="Aglet Sans" pitchFamily="34" charset="-122"/>
                <a:cs typeface="Calibri" panose="020F0502020204030204" pitchFamily="34" charset="0"/>
              </a:rPr>
              <a:t>Pré-</a:t>
            </a:r>
            <a:r>
              <a:rPr lang="en-US" b="1" err="1">
                <a:solidFill>
                  <a:srgbClr val="486017"/>
                </a:solidFill>
                <a:latin typeface="Calibri" panose="020F0502020204030204" pitchFamily="34" charset="0"/>
                <a:ea typeface="Aglet Sans" pitchFamily="34" charset="-122"/>
                <a:cs typeface="Calibri" panose="020F0502020204030204" pitchFamily="34" charset="0"/>
              </a:rPr>
              <a:t>inauguração</a:t>
            </a:r>
            <a:endParaRPr lang="en-US">
              <a:solidFill>
                <a:srgbClr val="48601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D3A822B-5049-8004-3B08-B38AC26A7E4A}"/>
              </a:ext>
            </a:extLst>
          </p:cNvPr>
          <p:cNvSpPr txBox="1"/>
          <p:nvPr/>
        </p:nvSpPr>
        <p:spPr>
          <a:xfrm>
            <a:off x="247792" y="4010708"/>
            <a:ext cx="2558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pt-BR" b="1">
                <a:solidFill>
                  <a:srgbClr val="4860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Evento de inauguração</a:t>
            </a:r>
            <a:r>
              <a:rPr lang="pt-BR">
                <a:solidFill>
                  <a:srgbClr val="4860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AC42FB8F-4B08-A87D-7747-C316EE61926D}"/>
              </a:ext>
            </a:extLst>
          </p:cNvPr>
          <p:cNvCxnSpPr/>
          <p:nvPr/>
        </p:nvCxnSpPr>
        <p:spPr>
          <a:xfrm>
            <a:off x="247792" y="2889954"/>
            <a:ext cx="11639408" cy="0"/>
          </a:xfrm>
          <a:prstGeom prst="line">
            <a:avLst/>
          </a:prstGeom>
          <a:ln>
            <a:solidFill>
              <a:srgbClr val="4860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FEBF63-7A4E-784D-C0D9-DCD6F175BADC}"/>
              </a:ext>
            </a:extLst>
          </p:cNvPr>
          <p:cNvSpPr txBox="1"/>
          <p:nvPr/>
        </p:nvSpPr>
        <p:spPr>
          <a:xfrm>
            <a:off x="247792" y="5892617"/>
            <a:ext cx="255806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pt-BR" b="1">
                <a:solidFill>
                  <a:srgbClr val="486017"/>
                </a:solidFill>
                <a:latin typeface="Calibri"/>
                <a:ea typeface="Calibri"/>
                <a:cs typeface="Calibri"/>
              </a:rPr>
              <a:t>Pós-inauguração</a:t>
            </a:r>
            <a:r>
              <a:rPr lang="pt-BR">
                <a:solidFill>
                  <a:srgbClr val="486017"/>
                </a:solidFill>
                <a:latin typeface="Calibri"/>
                <a:ea typeface="Calibri"/>
                <a:cs typeface="Calibri"/>
              </a:rPr>
              <a:t> </a:t>
            </a:r>
          </a:p>
        </p:txBody>
      </p:sp>
      <p:cxnSp>
        <p:nvCxnSpPr>
          <p:cNvPr id="8" name="Conector Reto 37">
            <a:extLst>
              <a:ext uri="{FF2B5EF4-FFF2-40B4-BE49-F238E27FC236}">
                <a16:creationId xmlns:a16="http://schemas.microsoft.com/office/drawing/2014/main" id="{8722E988-42F0-AA2E-4274-A31E4E4DC084}"/>
              </a:ext>
            </a:extLst>
          </p:cNvPr>
          <p:cNvCxnSpPr>
            <a:cxnSpLocks/>
          </p:cNvCxnSpPr>
          <p:nvPr/>
        </p:nvCxnSpPr>
        <p:spPr>
          <a:xfrm>
            <a:off x="247792" y="5462539"/>
            <a:ext cx="11639408" cy="0"/>
          </a:xfrm>
          <a:prstGeom prst="line">
            <a:avLst/>
          </a:prstGeom>
          <a:ln>
            <a:solidFill>
              <a:srgbClr val="4860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070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22663-C380-CCFE-10A6-5A1DD364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6F09B9-1D0E-AAD9-1FCA-EE4C9F8575F1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486018"/>
          </a:solidFill>
          <a:ln w="12700">
            <a:solidFill>
              <a:srgbClr val="4860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2889E63-B2A6-2C95-DCB7-2A0E3CC95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65760" cy="43891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3CFE198-4E6B-EA01-FDC8-58E8DA153693}"/>
              </a:ext>
            </a:extLst>
          </p:cNvPr>
          <p:cNvSpPr/>
          <p:nvPr/>
        </p:nvSpPr>
        <p:spPr>
          <a:xfrm>
            <a:off x="86868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CENTRO ONS ENERGIA</a:t>
            </a:r>
            <a:endParaRPr lang="en-US" sz="11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AD08AD9-7DC4-A3F2-C352-8F0B381CE9E4}"/>
              </a:ext>
            </a:extLst>
          </p:cNvPr>
          <p:cNvSpPr/>
          <p:nvPr/>
        </p:nvSpPr>
        <p:spPr>
          <a:xfrm>
            <a:off x="640080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</a:t>
            </a:r>
            <a:r>
              <a:rPr lang="en-US" sz="1100" kern="0" spc="2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Variados</a:t>
            </a:r>
            <a:endParaRPr lang="en-US" sz="1100"/>
          </a:p>
        </p:txBody>
      </p:sp>
      <p:pic>
        <p:nvPicPr>
          <p:cNvPr id="8" name="Imagem 7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9CECBC44-12B4-4103-FF77-CEAADEA25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933" y="1195740"/>
            <a:ext cx="8568267" cy="4888162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09DF0808-B7DC-D978-7073-5F6CD831A031}"/>
              </a:ext>
            </a:extLst>
          </p:cNvPr>
          <p:cNvSpPr/>
          <p:nvPr/>
        </p:nvSpPr>
        <p:spPr>
          <a:xfrm>
            <a:off x="365760" y="3429000"/>
            <a:ext cx="260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Outros </a:t>
            </a:r>
            <a:r>
              <a:rPr lang="en-US" sz="2600" b="1" err="1">
                <a:solidFill>
                  <a:srgbClr val="1A1A1A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caminhos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1474221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86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9601200" y="457200"/>
            <a:ext cx="3200400" cy="38404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457200" y="3657600"/>
            <a:ext cx="22860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INAUGURAÇÃO</a:t>
            </a:r>
            <a:endParaRPr lang="en-US" sz="1200"/>
          </a:p>
        </p:txBody>
      </p:sp>
      <p:sp>
        <p:nvSpPr>
          <p:cNvPr id="5" name="Text 1"/>
          <p:cNvSpPr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FFFFF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Conectar saberes.</a:t>
            </a:r>
            <a:endParaRPr lang="en-US" sz="6400"/>
          </a:p>
        </p:txBody>
      </p:sp>
      <p:sp>
        <p:nvSpPr>
          <p:cNvPr id="6" name="Text 2"/>
          <p:cNvSpPr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76C00"/>
                </a:solidFill>
                <a:latin typeface="Aglet Sans" pitchFamily="34" charset="0"/>
                <a:ea typeface="Aglet Sans" pitchFamily="34" charset="-122"/>
                <a:cs typeface="Aglet Sans" pitchFamily="34" charset="-120"/>
              </a:rPr>
              <a:t>Energizar o futuro.</a:t>
            </a:r>
            <a:endParaRPr lang="en-US" sz="6400"/>
          </a:p>
        </p:txBody>
      </p:sp>
      <p:sp>
        <p:nvSpPr>
          <p:cNvPr id="7" name="Shape 3"/>
          <p:cNvSpPr/>
          <p:nvPr/>
        </p:nvSpPr>
        <p:spPr>
          <a:xfrm>
            <a:off x="914400" y="4572000"/>
            <a:ext cx="13716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FDF3135-334B-69DA-0C0A-0569ED00A0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12447" y="5717601"/>
            <a:ext cx="2211080" cy="683199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02B2E9D-4D81-2DD8-3C40-B9049A42AF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7614" b="-4124"/>
          <a:stretch>
            <a:fillRect/>
          </a:stretch>
        </p:blipFill>
        <p:spPr bwMode="auto">
          <a:xfrm>
            <a:off x="949569" y="5875700"/>
            <a:ext cx="1868297" cy="3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PresentationFormat>Widescreen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Aglet Sans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Brandboard - Centro ONS Energia</dc:title>
  <dc:subject>PptxGenJS Presentation</dc:subject>
  <dc:creator>Centro ONS Energia</dc:creator>
  <cp:lastModifiedBy>Felipe Novais</cp:lastModifiedBy>
  <cp:revision>2</cp:revision>
  <dcterms:created xsi:type="dcterms:W3CDTF">2026-04-13T18:15:56Z</dcterms:created>
  <dcterms:modified xsi:type="dcterms:W3CDTF">2026-05-04T15:37:35Z</dcterms:modified>
</cp:coreProperties>
</file>